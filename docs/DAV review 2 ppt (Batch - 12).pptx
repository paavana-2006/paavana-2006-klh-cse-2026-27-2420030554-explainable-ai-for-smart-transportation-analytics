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7" r:id="rId2"/>
    <p:sldId id="274" r:id="rId3"/>
    <p:sldId id="275" r:id="rId4"/>
    <p:sldId id="260" r:id="rId5"/>
    <p:sldId id="276" r:id="rId6"/>
    <p:sldId id="278" r:id="rId7"/>
    <p:sldId id="279" r:id="rId8"/>
    <p:sldId id="280" r:id="rId9"/>
    <p:sldId id="287" r:id="rId10"/>
    <p:sldId id="288" r:id="rId11"/>
    <p:sldId id="281" r:id="rId12"/>
    <p:sldId id="283" r:id="rId13"/>
    <p:sldId id="284" r:id="rId14"/>
    <p:sldId id="286" r:id="rId15"/>
    <p:sldId id="285" r:id="rId16"/>
    <p:sldId id="264" r:id="rId17"/>
    <p:sldId id="263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2288" autoAdjust="0"/>
  </p:normalViewPr>
  <p:slideViewPr>
    <p:cSldViewPr snapToGrid="0">
      <p:cViewPr varScale="1">
        <p:scale>
          <a:sx n="76" d="100"/>
          <a:sy n="76" d="100"/>
        </p:scale>
        <p:origin x="94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16DF90-D96B-4A87-9D8F-027233DFC2AF}" type="datetimeFigureOut">
              <a:rPr lang="en-IN" smtClean="0"/>
              <a:t>17-09-2026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B8DC62-EFBD-432A-9BD2-923B8E5AB4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88934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B8DC62-EFBD-432A-9BD2-923B8E5AB473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96734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F68C7D-2BDA-6567-F272-792645ABE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3AAF17-F6C6-6D27-D9A4-DF6A0B82B0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CEA612-7B51-FD59-3B82-811A61E26F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EF515C-B2DC-57DB-9D3A-316295E89E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B8DC62-EFBD-432A-9BD2-923B8E5AB473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30004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5346B-A300-6ABB-2A6B-7B2F3458F5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F47280-3B4E-1CD4-1D05-22D834806C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E881AE-2E37-67DA-83BD-D6893E309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B6846-2CD3-48A4-A3BF-085B63675F5B}" type="datetimeFigureOut">
              <a:rPr lang="en-IN" smtClean="0"/>
              <a:t>17-09-2026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F6ECEF-5221-B734-A1F2-F85C107DA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2A47F1-8BB6-F7C6-86C3-CBB30AE26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B04D9-0DC9-4451-B849-7116168B5D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49980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4D34A-9B5E-ED11-002C-AEC2EC014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203528-11E8-CBCC-689F-C92509C7B6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6F3807-4416-2C3C-67B9-51EF865812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B6846-2CD3-48A4-A3BF-085B63675F5B}" type="datetimeFigureOut">
              <a:rPr lang="en-IN" smtClean="0"/>
              <a:t>17-09-2026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5AF237-8C9E-8457-01B3-155BB08AF3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D2A0B2-DE1C-DF02-2FCB-0D213E7F9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B04D9-0DC9-4451-B849-7116168B5D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9270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DEF4A-9D62-A9E3-5199-0AF8C54B60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5D8BB5-7155-6722-7673-85F522092B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AC6DF3-DBAC-29CB-8882-E2EC172FD7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B6846-2CD3-48A4-A3BF-085B63675F5B}" type="datetimeFigureOut">
              <a:rPr lang="en-IN" smtClean="0"/>
              <a:t>17-09-2026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3D9F55-E5E5-E445-B801-95FCA91A2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AFE918-98F7-EA64-518B-7EEBCEBB9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B04D9-0DC9-4451-B849-7116168B5D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3865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AFBC2-C1EC-117A-5E70-A9F4BDF10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1F5218-07A5-2A49-B074-815C7B9995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2DC8EC-8D71-9BFC-9FAD-79C64E599E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24EE3F-1E41-1FBF-1E19-A88502574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B6846-2CD3-48A4-A3BF-085B63675F5B}" type="datetimeFigureOut">
              <a:rPr lang="en-IN" smtClean="0"/>
              <a:t>17-09-2026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AFB1F3-8979-3C31-13E7-76C4B196CE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89A289-6E1E-A70D-2612-7E8F62126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B04D9-0DC9-4451-B849-7116168B5D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0088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4ED10-6C7A-BF11-1D65-309208011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491354-6FBD-F3AE-0864-F42B4AC1BA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C8810F-9CFB-18BC-C1A2-5E44967E46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C1CAC3-A3EF-9A8B-9188-D9A116213F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EF29AD-68D3-0F9E-851A-64F180760B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1D6F5E7-5296-68D1-EEBB-D302E5138E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B6846-2CD3-48A4-A3BF-085B63675F5B}" type="datetimeFigureOut">
              <a:rPr lang="en-IN" smtClean="0"/>
              <a:t>17-09-2026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924E794-22B8-B7BF-2CDB-DD22A84D1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DB0B55-4F87-C73A-B838-5B99F5535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B04D9-0DC9-4451-B849-7116168B5D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4058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461DD-8053-3225-19EE-56C0C28D0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48F29C-1F83-17E9-7068-FA0E46F1C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B6846-2CD3-48A4-A3BF-085B63675F5B}" type="datetimeFigureOut">
              <a:rPr lang="en-IN" smtClean="0"/>
              <a:t>17-09-2026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C34B14-1227-33CF-2B00-ECCFAAA20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38CACD-20C3-E6D5-5A37-8C5D4D97C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B04D9-0DC9-4451-B849-7116168B5D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3254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D80A54B-188B-E9F7-6E75-0BFD561FE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B6846-2CD3-48A4-A3BF-085B63675F5B}" type="datetimeFigureOut">
              <a:rPr lang="en-IN" smtClean="0"/>
              <a:t>17-09-2026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D20F23-04C0-8FE1-A1A5-ABAD605B7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8FF99B-D2EA-5608-9643-186B37026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B04D9-0DC9-4451-B849-7116168B5D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81943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427E00-9D1F-7D84-C829-F4398DFA0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111448-1553-A19A-98DC-523929D61D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EC721E-2B25-AD77-63C4-A61BED051C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363C22-7474-C49C-BF32-A4624FE935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B6846-2CD3-48A4-A3BF-085B63675F5B}" type="datetimeFigureOut">
              <a:rPr lang="en-IN" smtClean="0"/>
              <a:t>17-09-2026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E4C2BF-1927-5814-AA22-EF0D6A48C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D8A6CA-4918-556C-D33E-8B7629D9D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B04D9-0DC9-4451-B849-7116168B5D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740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E6DE7-E7D0-D097-2FC0-9B34ECF5B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FF8461-8E34-8390-C226-AEE95ABF1E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841157-B4CD-C91B-C761-79B2BB0860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699094-32F7-AFDD-75C9-A754B38DF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B6846-2CD3-48A4-A3BF-085B63675F5B}" type="datetimeFigureOut">
              <a:rPr lang="en-IN" smtClean="0"/>
              <a:t>17-09-2026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866191-FD84-09CE-4A37-7D18C1257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EE7A2B-B0AF-8219-5AB2-41C3FCFFA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B04D9-0DC9-4451-B849-7116168B5D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9185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81E7C-4C05-FD88-B6E1-E5110FB41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564D44-9520-BC0F-4849-5358ED14F8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1DD94F-0FD2-C674-667F-FF0574A59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B6846-2CD3-48A4-A3BF-085B63675F5B}" type="datetimeFigureOut">
              <a:rPr lang="en-IN" smtClean="0"/>
              <a:t>17-09-2026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4120F8-FE79-9B8D-3D5D-EAB034C15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E0F1E2-FA38-6278-3BE8-272ADEAD0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B04D9-0DC9-4451-B849-7116168B5D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7531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D6F8D1-5789-6034-DE61-27BED005B6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AAD657-1456-1622-AABB-F4FBF46BC4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520FD0-1F34-93D8-8C49-61281D80AF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B6846-2CD3-48A4-A3BF-085B63675F5B}" type="datetimeFigureOut">
              <a:rPr lang="en-IN" smtClean="0"/>
              <a:t>17-09-2026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835366-573A-4AC7-796C-8651AF4F1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AE2D73-4C73-1D35-2FFB-FB2A7BD6C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B04D9-0DC9-4451-B849-7116168B5D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4950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6EF7E1-BE0A-3B8C-7CF1-660D93D03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623ECD-5842-9402-B285-56E4D6B28D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51D9E7-C8B3-F71F-38FA-22C8A596EF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DB6846-2CD3-48A4-A3BF-085B63675F5B}" type="datetimeFigureOut">
              <a:rPr lang="en-IN" smtClean="0"/>
              <a:t>17-09-2026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656071-8E5F-5A95-BC0B-A7EE59E407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184D61-3432-F580-FD41-DB591D13A5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2B04D9-0DC9-4451-B849-7116168B5D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85208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B44535-77B2-B96B-E1AC-A0F7F8BF4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D067A-3872-0170-42F2-2A0A154AE2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"/>
            <a:ext cx="12192000" cy="1061884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99819D-9AE4-1786-F069-A0431F3580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3457" y="1465006"/>
            <a:ext cx="11464413" cy="5014452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ANALYTICS AND VISUALIZATION(24DSB3101)</a:t>
            </a:r>
          </a:p>
          <a:p>
            <a:pPr>
              <a:lnSpc>
                <a:spcPct val="100000"/>
              </a:lnSpc>
            </a:pP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Explainable AI Framework for Multimodal Big Data Analytics in Smart Transportation Systems</a:t>
            </a:r>
          </a:p>
          <a:p>
            <a:pPr>
              <a:lnSpc>
                <a:spcPct val="100000"/>
              </a:lnSpc>
            </a:pP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IN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Batch – 12</a:t>
            </a:r>
          </a:p>
          <a:p>
            <a:pPr algn="l">
              <a:lnSpc>
                <a:spcPct val="100000"/>
              </a:lnSpc>
            </a:pPr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2420030554 – Y. Paavana Pranavasri</a:t>
            </a:r>
          </a:p>
          <a:p>
            <a:pPr algn="l">
              <a:lnSpc>
                <a:spcPct val="100000"/>
              </a:lnSpc>
            </a:pPr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2420030394 – K. Bhavya</a:t>
            </a:r>
          </a:p>
          <a:p>
            <a:pPr algn="l">
              <a:lnSpc>
                <a:spcPct val="100000"/>
              </a:lnSpc>
            </a:pPr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2420030416 – A. Divya Sree</a:t>
            </a:r>
          </a:p>
          <a:p>
            <a:pPr algn="l">
              <a:lnSpc>
                <a:spcPct val="100000"/>
              </a:lnSpc>
            </a:pPr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2420030677 – J. Sree Vardhini</a:t>
            </a:r>
          </a:p>
          <a:p>
            <a:pPr algn="l">
              <a:lnSpc>
                <a:spcPct val="100000"/>
              </a:lnSpc>
            </a:pPr>
            <a:endParaRPr lang="en-IN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98CEF18-29FE-FD8E-EADF-E065494AC3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1209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6056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85FF2A-5DCC-89FD-8583-E43CF82C1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754B3-45EA-7A95-F6AD-71CF687B13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"/>
            <a:ext cx="12192000" cy="1061884"/>
          </a:xfrm>
        </p:spPr>
        <p:txBody>
          <a:bodyPr/>
          <a:lstStyle/>
          <a:p>
            <a:r>
              <a:rPr lang="en-US" dirty="0"/>
              <a:t>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663B1D-D5FD-6E39-F2A7-E02B9D6020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120936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27DC9A9-26BB-0997-F85A-965FB646DBA6}"/>
              </a:ext>
            </a:extLst>
          </p:cNvPr>
          <p:cNvSpPr txBox="1"/>
          <p:nvPr/>
        </p:nvSpPr>
        <p:spPr>
          <a:xfrm>
            <a:off x="275303" y="1445342"/>
            <a:ext cx="11621729" cy="4678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Methodology:</a:t>
            </a:r>
          </a:p>
          <a:p>
            <a:endParaRPr lang="en-IN" sz="2000" b="1" dirty="0"/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Multimodal Data Collection &amp; Integration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Satisfies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1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public transport, road accident, and climate/weather datasets.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 and preprocess the datasets.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Standardize relevant attributes and prepare them for combined analysis. 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Exploratory Data Analysis &amp; Visualization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Satisfies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2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trends and patterns in accident, transport, and weather data.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relationships between transportation and environmental factors.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statistical analysis and visualizations to identify important risk factors. </a:t>
            </a:r>
          </a:p>
          <a:p>
            <a:endParaRPr lang="en-IN" sz="2000" b="1" dirty="0"/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351070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EEBF3-E1BD-6EB8-471D-9FC1DD139C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4B12F-3D89-0C22-180A-EE2D88C789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"/>
            <a:ext cx="12192000" cy="1061884"/>
          </a:xfrm>
        </p:spPr>
        <p:txBody>
          <a:bodyPr/>
          <a:lstStyle/>
          <a:p>
            <a:r>
              <a:rPr lang="en-US" dirty="0"/>
              <a:t>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4CB9E80-A8D8-C455-AA92-D86B96D4E8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120936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63657E4-7227-F60C-7408-75388D0C190B}"/>
              </a:ext>
            </a:extLst>
          </p:cNvPr>
          <p:cNvSpPr txBox="1"/>
          <p:nvPr/>
        </p:nvSpPr>
        <p:spPr>
          <a:xfrm>
            <a:off x="275303" y="1445342"/>
            <a:ext cx="11621729" cy="4985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Methodology:</a:t>
            </a:r>
          </a:p>
          <a:p>
            <a:endParaRPr lang="en-IN" sz="2000" b="1" dirty="0"/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Feature Engineering &amp; Machine Learning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Satisfies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3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meaningful features from the processed datasets.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machine learning models to predict road-safety/transportation risk outcomes.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SHAP and LIME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explain the factors influencing model predictions. 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Model Performance &amp; Explainability Evaluation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Satisfies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4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classification models using Accuracy, Precision, Recall, and F1-score. </a:t>
            </a:r>
          </a:p>
          <a:p>
            <a:pPr lvl="0"/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confusion matrix and model execution/response time.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feature importance and SHAP/LIME explanations.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the major factors influencing predictions.</a:t>
            </a:r>
          </a:p>
          <a:p>
            <a:endParaRPr lang="en-IN" sz="2000" b="1" dirty="0"/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33889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EEF30E-0868-8DD3-1239-06780599FB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4DEFF-AED1-8F7C-F9BD-4E664E77C1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"/>
            <a:ext cx="12192000" cy="1061884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7C7D374-406B-950E-C52F-8F410C04E0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120936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AC1FE44-BE37-8D0A-E331-80ED3F206965}"/>
              </a:ext>
            </a:extLst>
          </p:cNvPr>
          <p:cNvSpPr txBox="1"/>
          <p:nvPr/>
        </p:nvSpPr>
        <p:spPr>
          <a:xfrm>
            <a:off x="275303" y="1445342"/>
            <a:ext cx="11464413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 &amp; Preprocessing:</a:t>
            </a: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Road Accident Dataset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State-wise accident data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Accident records from 2019–2023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Ranking and percentage-change information 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Transport Dataset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City-wise bus information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 types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 terminals, stands and stops </a:t>
            </a: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4122930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57CEA6-F198-0B43-4478-FB0A308187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F31B1-D43E-0A88-B945-71D5047A5E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"/>
            <a:ext cx="12192000" cy="1061884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088C74-4415-6188-3AD6-9C15C67F44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120936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F0F87A5-EAD5-F402-796E-7F6204DE85B5}"/>
              </a:ext>
            </a:extLst>
          </p:cNvPr>
          <p:cNvSpPr txBox="1"/>
          <p:nvPr/>
        </p:nvSpPr>
        <p:spPr>
          <a:xfrm>
            <a:off x="275303" y="1445342"/>
            <a:ext cx="11464413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 &amp; Preprocessing:</a:t>
            </a:r>
          </a:p>
          <a:p>
            <a:endParaRPr lang="en-IN" sz="2000" b="1" dirty="0"/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Weather Dataset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Daily weather information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Temperature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Precipitation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Wind speed and gusts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Weather conditions 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Missing-value handling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Duplicate removal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type conversion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cleaning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Standardized dataset structure </a:t>
            </a: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5220495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8FF108-110D-8F2E-6431-7E765063E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2B5FB-820B-2721-3395-D7DE76CA32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"/>
            <a:ext cx="12192000" cy="1061884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FB7A972-975B-B3FF-B03E-D65427FC41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120936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4E4BF27-C137-DA68-9028-67427ED0D4EA}"/>
              </a:ext>
            </a:extLst>
          </p:cNvPr>
          <p:cNvSpPr txBox="1"/>
          <p:nvPr/>
        </p:nvSpPr>
        <p:spPr>
          <a:xfrm>
            <a:off x="275303" y="1445342"/>
            <a:ext cx="11034381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Design:</a:t>
            </a: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50C8CC1-D1E2-3394-251F-F997B25646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1024" y="1927330"/>
            <a:ext cx="6782637" cy="4173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72918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190EE2-594F-C675-CCF6-7579CE8537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F54BA5-ED35-6233-4328-6019C5995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"/>
            <a:ext cx="12192000" cy="1061884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954D8D-AADD-4E79-B1A6-8B5750AD7C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120936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C576887-FC2B-6683-89C4-DC1AAA1C0CBE}"/>
              </a:ext>
            </a:extLst>
          </p:cNvPr>
          <p:cNvSpPr txBox="1"/>
          <p:nvPr/>
        </p:nvSpPr>
        <p:spPr>
          <a:xfrm>
            <a:off x="275303" y="1133843"/>
            <a:ext cx="11159721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Modern Tools &amp; Technologies:</a:t>
            </a: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Python 3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Processing: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Pandas, NumPy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Scikit-learn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Models: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Logistic Regression, Decision Tree, Random Forest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XAI: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SHAP, LIME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Matplotlib,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Plotly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VS Code, Python Virtual Environment</a:t>
            </a: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568688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585C4-BE82-D67E-59BB-6B41663546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0FC49-C74C-0D36-9DA0-5FF8082801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"/>
            <a:ext cx="12192000" cy="1061884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E665D4-29B3-9A26-38CF-13C19941A4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120936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058EAD0-8F12-F342-E783-920C80CF5AD7}"/>
              </a:ext>
            </a:extLst>
          </p:cNvPr>
          <p:cNvSpPr txBox="1"/>
          <p:nvPr/>
        </p:nvSpPr>
        <p:spPr>
          <a:xfrm>
            <a:off x="275303" y="1133843"/>
            <a:ext cx="11159721" cy="5201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– Machine Learning Models:</a:t>
            </a:r>
          </a:p>
          <a:p>
            <a:endParaRPr lang="en-IN" sz="2000" dirty="0"/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Models trained for road-accident risk prediction: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baseline classification model for risk prediction.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interpretable rule-based model for identifying risk patterns.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ensemble model used for robust accident-risk classification. </a:t>
            </a:r>
          </a:p>
          <a:p>
            <a:pPr lvl="0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model is trained using the same processed accident dataset and evaluated using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Accuracy, Precision, Recall, and F1-Score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a fair performance comparison.</a:t>
            </a: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111317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5B8C07-B34A-4D01-5056-61A3C755C1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22DE5-04E8-7D59-F56E-F9E5EDD9D1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"/>
            <a:ext cx="12192000" cy="1061884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1D64BC5-EFDB-A832-29CE-7887BACF5B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120936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135AF38-7941-B880-B870-0E4140183365}"/>
              </a:ext>
            </a:extLst>
          </p:cNvPr>
          <p:cNvSpPr txBox="1"/>
          <p:nvPr/>
        </p:nvSpPr>
        <p:spPr>
          <a:xfrm>
            <a:off x="275303" y="1133843"/>
            <a:ext cx="11159721" cy="60324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– Explainability (SHAP &amp; LIME) :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SHAP – Global Explainability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Calculates feature contributions to understand their influence on risk predictions.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Identifies the most important accident-related features affecting the model. </a:t>
            </a:r>
          </a:p>
          <a:p>
            <a:pPr lvl="0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LIME – Local Explainability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Explains an individual risk prediction using local feature contributions.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why the model classified a particular case as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Low, Medium, or High risk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 techniques are integrated into the framework to provide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transparent and interpretable machine learning predictions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6188424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C1DADB-A654-855E-88A8-AC00F9D6FA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E7FAB-C8C2-C4FB-0ED6-657C63554E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"/>
            <a:ext cx="12192000" cy="1061884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D926415-F3A4-3D44-489D-EE714D7094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120936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77FB702-F34D-6287-7342-0795F9398A02}"/>
              </a:ext>
            </a:extLst>
          </p:cNvPr>
          <p:cNvSpPr txBox="1"/>
          <p:nvPr/>
        </p:nvSpPr>
        <p:spPr>
          <a:xfrm>
            <a:off x="275303" y="1133843"/>
            <a:ext cx="11159721" cy="686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– BI Dashboard (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: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dashboard is developed using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provides an interactive web-based interface for smart transportation analytics.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 implemented: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Live Command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Center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overall transportation and safety overview.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Route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route-oriented transportation risk information.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Accident Risk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accident-risk prediction and analysis.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Weather Intelligence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temperature, rainfall and weather analysis.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Transport Intelligence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public transport and infrastructure insights.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Explainable AI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SHAP and LIME prediction explanations.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Performance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model metrics, confusion matrix and evaluation results.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dashboard integrates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analysis, machine learning, explainability, and visualization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into a single platform for transportation and road-safety analysis.</a:t>
            </a: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42926004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90C1FC-0085-7A6A-259B-4D0978A1B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AEC59-801E-E8EC-BDCF-E565DF49B0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"/>
            <a:ext cx="12192000" cy="1061884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D413AE-03BC-F037-A4BB-D831A225BD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120936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01196BF-3FF0-075F-6DEF-A2E738F31C2D}"/>
              </a:ext>
            </a:extLst>
          </p:cNvPr>
          <p:cNvSpPr txBox="1"/>
          <p:nvPr/>
        </p:nvSpPr>
        <p:spPr>
          <a:xfrm>
            <a:off x="275303" y="1133843"/>
            <a:ext cx="11159721" cy="2154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Results:</a:t>
            </a: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952B0CD-E033-04C9-8B93-D5566ABA74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850" y="1754898"/>
            <a:ext cx="4417277" cy="201375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67CEA24-F149-5415-A63D-37AC3AAEF5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9805" y="1507634"/>
            <a:ext cx="4790868" cy="237208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AA4BA17-DED0-0272-EAB3-700D7594DD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850" y="4076299"/>
            <a:ext cx="5714268" cy="2174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6541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FCD9E6-A106-3F5D-1898-987B7A201D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52D7C-1B05-CFA2-53CE-166F0DA52F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"/>
            <a:ext cx="12192000" cy="1061884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61DEF27-5BBA-2D85-370B-72AB0A9A3E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120936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CAEA6C5-991E-3875-B674-3056DBFCBA65}"/>
              </a:ext>
            </a:extLst>
          </p:cNvPr>
          <p:cNvSpPr txBox="1"/>
          <p:nvPr/>
        </p:nvSpPr>
        <p:spPr>
          <a:xfrm>
            <a:off x="275303" y="1133843"/>
            <a:ext cx="11159721" cy="2154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Results:</a:t>
            </a: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C05311-4785-FE57-2ABE-941C757F97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258" y="1737407"/>
            <a:ext cx="5050464" cy="366463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94BD30E-2B60-0B19-6B67-FA6A8748F5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4559" y="2075528"/>
            <a:ext cx="5050465" cy="194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59554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DF65F2-163C-152E-B5D0-C0EA5623A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021FB-F7E1-A4D0-A279-A6BD0A15D0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"/>
            <a:ext cx="12192000" cy="1061884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88A8CBA-D14E-F3D4-B9F6-FBEFD31031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12192000" cy="120936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0E79FFD-95EA-74E0-6320-C315AB8621E7}"/>
              </a:ext>
            </a:extLst>
          </p:cNvPr>
          <p:cNvSpPr txBox="1"/>
          <p:nvPr/>
        </p:nvSpPr>
        <p:spPr>
          <a:xfrm>
            <a:off x="275303" y="1133843"/>
            <a:ext cx="11541559" cy="575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Evaluation &amp; Key Findings:</a:t>
            </a: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Evaluation</a:t>
            </a:r>
          </a:p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Models: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Logistic Regression, Decision Tree, Random Forest </a:t>
            </a:r>
          </a:p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Metrics: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Accuracy, Precision, Recall, F1-score &amp; Confusion Matrix </a:t>
            </a:r>
          </a:p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Efficiency: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Training and prediction response time </a:t>
            </a:r>
          </a:p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XAI: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SHAP &amp; LIME for prediction explanations </a:t>
            </a:r>
          </a:p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Datasets: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Completeness, coverage and statistical analysis </a:t>
            </a:r>
          </a:p>
          <a:p>
            <a:pPr lvl="0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Findings</a:t>
            </a:r>
          </a:p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 and Random Forest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achieved higher F1-scores than Logistic Regression.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Accident-history features effectively contributed to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Low, Medium and High risk classification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SHAP and LIME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identified important factors influencing model predictions.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Road accident, transport and weather datasets revealed useful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transportation and safety patterns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dashboard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integrates analysis, prediction and explainability into one interface.</a:t>
            </a:r>
          </a:p>
          <a:p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229480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EC446-0A5A-EDEF-0022-BA1D776F9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33656-2CAE-1139-CBAA-607E88B413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"/>
            <a:ext cx="12192000" cy="1061884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C464D85-697C-8BD1-4C64-9DA3C6C33C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12192000" cy="120936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2D4D4F4-8BFE-B351-37AA-110004019A7D}"/>
              </a:ext>
            </a:extLst>
          </p:cNvPr>
          <p:cNvSpPr txBox="1"/>
          <p:nvPr/>
        </p:nvSpPr>
        <p:spPr>
          <a:xfrm>
            <a:off x="275303" y="1133843"/>
            <a:ext cx="11541559" cy="2154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Evaluation: </a:t>
            </a: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0E1176-D843-3057-48DE-4E561D17B1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8510" y="1886789"/>
            <a:ext cx="8384073" cy="3630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8389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555B77-94A1-B432-09D6-4229C8F31E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13226-D183-7649-0E99-500A126659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"/>
            <a:ext cx="12192000" cy="1061884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8D84F65-89EE-A597-53D6-61F3C8C374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120936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6F40ADC-51AF-1542-8702-5D1A8D96672C}"/>
              </a:ext>
            </a:extLst>
          </p:cNvPr>
          <p:cNvSpPr txBox="1"/>
          <p:nvPr/>
        </p:nvSpPr>
        <p:spPr>
          <a:xfrm>
            <a:off x="275303" y="1133843"/>
            <a:ext cx="11541559" cy="4370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Novelty:</a:t>
            </a: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Multimodal Framework: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Integrates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road accident, public transport, and weather data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within a single analytics framework.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Risk-Level Prediction: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Classifies road-safety risk into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Low, Medium, and High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categories using machine learning.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Explainable AI: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Combines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SHAP and LIME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explain why a particular risk prediction is generated.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Integrated Decision Dashboard: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Presents analytics, risk prediction, model performance, and explanations through an interactive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dashboard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Data-Driven Safety Insights: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Connects accident patterns with transportation and environmental information to support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interpretable transportation safety analysis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40462044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F65C4F-1BE8-B335-F52A-6D7ECAB0C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E57C1-1F23-032F-3DE7-FB7A1CB73A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"/>
            <a:ext cx="12192000" cy="1061884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AB0A3CF-0FD1-3AE1-D684-DAED45530D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120936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9422584-9AF2-2FF3-0686-83D81B120EE4}"/>
              </a:ext>
            </a:extLst>
          </p:cNvPr>
          <p:cNvSpPr txBox="1"/>
          <p:nvPr/>
        </p:nvSpPr>
        <p:spPr>
          <a:xfrm>
            <a:off x="344129" y="1209368"/>
            <a:ext cx="1133659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Future Scope: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Explainable AI Framework for Multimodal Big Data Analytics in Smart Transportation Systems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an integrated approach for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road accident, public transport, and weather data. Machine learning models are used for accident-risk classification, while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SHAP and LIME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improve the interpretability of predictions. The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dashboard brings the analytical results, risk prediction, model performance, and explanations together in an interactive interface, supporting data-driven transportation and road-safety analysis.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framework can be extended by integrating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traffic and IoT sensor data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GPS and geospatial information, and larger datasets from multiple sources. Future work can also explore additional machine learning and deep learning models, real-time risk alerts, route-risk analysis, and cloud-based big-data processing. These enhancements could help move the framework toward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smart transportation and road-safety decision support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7934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B8B70C-0909-701E-B9AF-480E5FF1FE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8CB40-A5A6-A7D0-1FA3-796A40340E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"/>
            <a:ext cx="12192000" cy="1061884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2BF7EC-3EA7-2A69-7F10-A930A5E461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120936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FEDBB57-8CE5-332F-2CF6-247290353016}"/>
              </a:ext>
            </a:extLst>
          </p:cNvPr>
          <p:cNvSpPr txBox="1"/>
          <p:nvPr/>
        </p:nvSpPr>
        <p:spPr>
          <a:xfrm>
            <a:off x="383457" y="1209368"/>
            <a:ext cx="11621729" cy="4862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IN" sz="6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sz="6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</a:t>
            </a:r>
            <a:r>
              <a:rPr lang="en-IN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You</a:t>
            </a:r>
          </a:p>
          <a:p>
            <a:pPr algn="ctr"/>
            <a:endParaRPr lang="en-IN" sz="6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43239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454</TotalTime>
  <Words>994</Words>
  <Application>Microsoft Office PowerPoint</Application>
  <PresentationFormat>Widescreen</PresentationFormat>
  <Paragraphs>187</Paragraphs>
  <Slides>17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Aptos</vt:lpstr>
      <vt:lpstr>Arial</vt:lpstr>
      <vt:lpstr>Calibri</vt:lpstr>
      <vt:lpstr>Calibri Light</vt:lpstr>
      <vt:lpstr>Times New Roman</vt:lpstr>
      <vt:lpstr>Office Theme</vt:lpstr>
      <vt:lpstr>PowerPoint Presentation</vt:lpstr>
      <vt:lpstr>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vt:lpstr>
      <vt:lpstr>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 Kruthi</dc:creator>
  <cp:lastModifiedBy>Paavana Pranavasri Yalla</cp:lastModifiedBy>
  <cp:revision>16</cp:revision>
  <dcterms:created xsi:type="dcterms:W3CDTF">2026-08-11T15:03:11Z</dcterms:created>
  <dcterms:modified xsi:type="dcterms:W3CDTF">2026-09-17T10:16:10Z</dcterms:modified>
</cp:coreProperties>
</file>